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Average"/>
      <p:regular r:id="rId14"/>
    </p:embeddedFont>
    <p:embeddedFont>
      <p:font typeface="Oswald"/>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swald-regular.fntdata"/><Relationship Id="rId14" Type="http://schemas.openxmlformats.org/officeDocument/2006/relationships/font" Target="fonts/Average-regular.fntdata"/><Relationship Id="rId16" Type="http://schemas.openxmlformats.org/officeDocument/2006/relationships/font" Target="fonts/Oswald-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d56ab6f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d56ab6f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d56ab6f1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d56ab6f1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d56ab6f1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d56ab6f1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d56ab6f1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d56ab6f1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d56ab6f1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d56ab6f1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d56ab6f1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d56ab6f1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d56ab6f17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d56ab6f17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CS39AF AI Project</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Austyn Griego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Goals</a:t>
            </a:r>
            <a:endParaRPr/>
          </a:p>
        </p:txBody>
      </p:sp>
      <p:sp>
        <p:nvSpPr>
          <p:cNvPr id="66" name="Google Shape;66;p14"/>
          <p:cNvSpPr txBox="1"/>
          <p:nvPr>
            <p:ph idx="1" type="body"/>
          </p:nvPr>
        </p:nvSpPr>
        <p:spPr>
          <a:xfrm>
            <a:off x="311700" y="1152475"/>
            <a:ext cx="8613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Using generative AI to create a reusable, modular code base to see how well AI can write reusable code.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Learning to better prompt and understand the AI agent in order to get more detailed and cleaner code. Such as docstrings, marked up code segments, and code explanations.</a:t>
            </a:r>
            <a:br>
              <a:rPr lang="en"/>
            </a:b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General Information</a:t>
            </a:r>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Used Chat GPT, ClaudeAI, and CoPilot integrated with Claude and ChatGPT.</a:t>
            </a:r>
            <a:endParaRPr/>
          </a:p>
          <a:p>
            <a:pPr indent="0" lvl="0" marL="0" rtl="0" algn="l">
              <a:spcBef>
                <a:spcPts val="1200"/>
              </a:spcBef>
              <a:spcAft>
                <a:spcPts val="0"/>
              </a:spcAft>
              <a:buNone/>
            </a:pPr>
            <a:r>
              <a:t/>
            </a:r>
            <a:endParaRPr/>
          </a:p>
          <a:p>
            <a:pPr indent="-334327" lvl="0" marL="457200" rtl="0" algn="l">
              <a:spcBef>
                <a:spcPts val="1200"/>
              </a:spcBef>
              <a:spcAft>
                <a:spcPts val="0"/>
              </a:spcAft>
              <a:buSzPct val="100000"/>
              <a:buChar char="●"/>
            </a:pPr>
            <a:r>
              <a:rPr lang="en"/>
              <a:t>When trying to get started I had to switch between the 3 to get a base version of what I wanted, once it lined up with my plan, I mainly used CoPilot to get the project to its current state. </a:t>
            </a:r>
            <a:r>
              <a:rPr lang="en"/>
              <a:t>Chat GPT</a:t>
            </a:r>
            <a:r>
              <a:rPr lang="en"/>
              <a:t> was trying to integrate blueprints in an app factory </a:t>
            </a:r>
            <a:r>
              <a:rPr lang="en"/>
              <a:t>style</a:t>
            </a:r>
            <a:r>
              <a:rPr lang="en"/>
              <a:t> format, and ClaudeAI gave me useful tips on app structure.</a:t>
            </a:r>
            <a:endParaRPr/>
          </a:p>
          <a:p>
            <a:pPr indent="0" lvl="0" marL="0" rtl="0" algn="l">
              <a:spcBef>
                <a:spcPts val="1200"/>
              </a:spcBef>
              <a:spcAft>
                <a:spcPts val="0"/>
              </a:spcAft>
              <a:buNone/>
            </a:pPr>
            <a:r>
              <a:t/>
            </a:r>
            <a:endParaRPr/>
          </a:p>
          <a:p>
            <a:pPr indent="-334327" lvl="0" marL="457200" rtl="0" algn="l">
              <a:spcBef>
                <a:spcPts val="1200"/>
              </a:spcBef>
              <a:spcAft>
                <a:spcPts val="0"/>
              </a:spcAft>
              <a:buSzPct val="100000"/>
              <a:buChar char="●"/>
            </a:pPr>
            <a:r>
              <a:rPr lang="en"/>
              <a:t>It all </a:t>
            </a:r>
            <a:r>
              <a:rPr lang="en"/>
              <a:t>started to </a:t>
            </a:r>
            <a:r>
              <a:rPr lang="en"/>
              <a:t>come together when I told CoPilot a mixed version of the others code/tips. I had a working base version of the app, that I was able to build upon using AI.</a:t>
            </a:r>
            <a:endParaRPr/>
          </a:p>
          <a:p>
            <a:pPr indent="0" lvl="0" marL="45720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 vs Outcomes</a:t>
            </a:r>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modular, library like code structured that can create new </a:t>
            </a:r>
            <a:r>
              <a:rPr lang="en"/>
              <a:t>applications with just a few clicks and changes. Makes creating new apps easier by taking out initial workload.</a:t>
            </a:r>
            <a:endParaRPr/>
          </a:p>
          <a:p>
            <a:pPr indent="-342900" lvl="0" marL="457200" rtl="0" algn="l">
              <a:spcBef>
                <a:spcPts val="0"/>
              </a:spcBef>
              <a:spcAft>
                <a:spcPts val="0"/>
              </a:spcAft>
              <a:buSzPts val="1800"/>
              <a:buChar char="●"/>
            </a:pPr>
            <a:r>
              <a:rPr lang="en"/>
              <a:t>In the library there are 6 modules, integrated with their necessary template files, as well as 4 interchangeable themes and 3 dashboard versions. Resulting in 50+ different configurations.</a:t>
            </a:r>
            <a:endParaRPr/>
          </a:p>
          <a:p>
            <a:pPr indent="-342900" lvl="0" marL="457200" rtl="0" algn="l">
              <a:spcBef>
                <a:spcPts val="0"/>
              </a:spcBef>
              <a:spcAft>
                <a:spcPts val="0"/>
              </a:spcAft>
              <a:buSzPts val="1800"/>
              <a:buChar char="●"/>
            </a:pPr>
            <a:r>
              <a:rPr lang="en"/>
              <a:t>Most modules run independent of one another and it is easy to create and implement new modules/themes/dashboards. </a:t>
            </a:r>
            <a:endParaRPr/>
          </a:p>
          <a:p>
            <a:pPr indent="-342900" lvl="0" marL="457200" rtl="0" algn="l">
              <a:spcBef>
                <a:spcPts val="0"/>
              </a:spcBef>
              <a:spcAft>
                <a:spcPts val="0"/>
              </a:spcAft>
              <a:buSzPts val="1800"/>
              <a:buChar char="●"/>
            </a:pPr>
            <a:r>
              <a:rPr lang="en"/>
              <a:t>Routes use safeURL builders to prevent broken paths, and to prevent dependency failures, there is a dependency fallback system that loads the required modules.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Showcase</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solidFill>
                  <a:schemeClr val="lt2"/>
                </a:solidFill>
              </a:rPr>
              <a:t>Now that the basics have been explained, </a:t>
            </a:r>
            <a:r>
              <a:rPr lang="en">
                <a:solidFill>
                  <a:schemeClr val="lt2"/>
                </a:solidFill>
              </a:rPr>
              <a:t>I'd</a:t>
            </a:r>
            <a:r>
              <a:rPr lang="en">
                <a:solidFill>
                  <a:schemeClr val="lt2"/>
                </a:solidFill>
              </a:rPr>
              <a:t> like to share exactly how you build new applications using the project app.py file:</a:t>
            </a:r>
            <a:endParaRPr>
              <a:solidFill>
                <a:schemeClr val="lt2"/>
              </a:solidFill>
            </a:endParaRPr>
          </a:p>
          <a:p>
            <a:pPr indent="457200" lvl="0" marL="0" rtl="0" algn="l">
              <a:lnSpc>
                <a:spcPct val="200000"/>
              </a:lnSpc>
              <a:spcBef>
                <a:spcPts val="1200"/>
              </a:spcBef>
              <a:spcAft>
                <a:spcPts val="0"/>
              </a:spcAft>
              <a:buNone/>
            </a:pPr>
            <a:r>
              <a:rPr lang="en" sz="1200">
                <a:solidFill>
                  <a:schemeClr val="lt2"/>
                </a:solidFill>
                <a:latin typeface="Arial"/>
                <a:ea typeface="Arial"/>
                <a:cs typeface="Arial"/>
                <a:sym typeface="Arial"/>
              </a:rPr>
              <a:t>app = create_app(</a:t>
            </a:r>
            <a:endParaRPr sz="1200">
              <a:solidFill>
                <a:schemeClr val="lt2"/>
              </a:solidFill>
              <a:latin typeface="Arial"/>
              <a:ea typeface="Arial"/>
              <a:cs typeface="Arial"/>
              <a:sym typeface="Arial"/>
            </a:endParaRPr>
          </a:p>
          <a:p>
            <a:pPr indent="457200" lvl="0" marL="0" rtl="0" algn="l">
              <a:lnSpc>
                <a:spcPct val="200000"/>
              </a:lnSpc>
              <a:spcBef>
                <a:spcPts val="0"/>
              </a:spcBef>
              <a:spcAft>
                <a:spcPts val="0"/>
              </a:spcAft>
              <a:buNone/>
            </a:pPr>
            <a:r>
              <a:rPr lang="en" sz="1200">
                <a:solidFill>
                  <a:schemeClr val="lt2"/>
                </a:solidFill>
                <a:latin typeface="Arial"/>
                <a:ea typeface="Arial"/>
                <a:cs typeface="Arial"/>
                <a:sym typeface="Arial"/>
              </a:rPr>
              <a:t>        modules=['blog', 'chat', 'dashboard', 'database', 'auth'], </a:t>
            </a:r>
            <a:endParaRPr sz="1200">
              <a:solidFill>
                <a:schemeClr val="lt2"/>
              </a:solidFill>
              <a:latin typeface="Arial"/>
              <a:ea typeface="Arial"/>
              <a:cs typeface="Arial"/>
              <a:sym typeface="Arial"/>
            </a:endParaRPr>
          </a:p>
          <a:p>
            <a:pPr indent="457200" lvl="0" marL="0" rtl="0" algn="l">
              <a:lnSpc>
                <a:spcPct val="200000"/>
              </a:lnSpc>
              <a:spcBef>
                <a:spcPts val="0"/>
              </a:spcBef>
              <a:spcAft>
                <a:spcPts val="0"/>
              </a:spcAft>
              <a:buNone/>
            </a:pPr>
            <a:r>
              <a:rPr lang="en" sz="1200">
                <a:solidFill>
                  <a:schemeClr val="lt2"/>
                </a:solidFill>
                <a:latin typeface="Arial"/>
                <a:ea typeface="Arial"/>
                <a:cs typeface="Arial"/>
                <a:sym typeface="Arial"/>
              </a:rPr>
              <a:t>        config={</a:t>
            </a:r>
            <a:endParaRPr sz="1200">
              <a:solidFill>
                <a:schemeClr val="lt2"/>
              </a:solidFill>
              <a:latin typeface="Arial"/>
              <a:ea typeface="Arial"/>
              <a:cs typeface="Arial"/>
              <a:sym typeface="Arial"/>
            </a:endParaRPr>
          </a:p>
          <a:p>
            <a:pPr indent="457200" lvl="0" marL="0" rtl="0" algn="l">
              <a:lnSpc>
                <a:spcPct val="200000"/>
              </a:lnSpc>
              <a:spcBef>
                <a:spcPts val="0"/>
              </a:spcBef>
              <a:spcAft>
                <a:spcPts val="0"/>
              </a:spcAft>
              <a:buNone/>
            </a:pPr>
            <a:r>
              <a:rPr lang="en" sz="1200">
                <a:solidFill>
                  <a:schemeClr val="lt2"/>
                </a:solidFill>
                <a:latin typeface="Arial"/>
                <a:ea typeface="Arial"/>
                <a:cs typeface="Arial"/>
                <a:sym typeface="Arial"/>
              </a:rPr>
              <a:t>            'THEME': 'light-</a:t>
            </a:r>
            <a:r>
              <a:rPr lang="en" sz="1200">
                <a:solidFill>
                  <a:schemeClr val="lt2"/>
                </a:solidFill>
                <a:latin typeface="Arial"/>
                <a:ea typeface="Arial"/>
                <a:cs typeface="Arial"/>
                <a:sym typeface="Arial"/>
              </a:rPr>
              <a:t>professional</a:t>
            </a:r>
            <a:r>
              <a:rPr lang="en" sz="1200">
                <a:solidFill>
                  <a:schemeClr val="lt2"/>
                </a:solidFill>
                <a:latin typeface="Arial"/>
                <a:ea typeface="Arial"/>
                <a:cs typeface="Arial"/>
                <a:sym typeface="Arial"/>
              </a:rPr>
              <a:t>',</a:t>
            </a:r>
            <a:endParaRPr sz="1200">
              <a:solidFill>
                <a:schemeClr val="lt2"/>
              </a:solidFill>
              <a:latin typeface="Arial"/>
              <a:ea typeface="Arial"/>
              <a:cs typeface="Arial"/>
              <a:sym typeface="Arial"/>
            </a:endParaRPr>
          </a:p>
          <a:p>
            <a:pPr indent="457200" lvl="0" marL="0" rtl="0" algn="l">
              <a:lnSpc>
                <a:spcPct val="200000"/>
              </a:lnSpc>
              <a:spcBef>
                <a:spcPts val="0"/>
              </a:spcBef>
              <a:spcAft>
                <a:spcPts val="0"/>
              </a:spcAft>
              <a:buNone/>
            </a:pPr>
            <a:r>
              <a:rPr lang="en" sz="1200">
                <a:solidFill>
                  <a:schemeClr val="lt2"/>
                </a:solidFill>
                <a:latin typeface="Arial"/>
                <a:ea typeface="Arial"/>
                <a:cs typeface="Arial"/>
                <a:sym typeface="Arial"/>
              </a:rPr>
              <a:t>            'DASHBOARD_TYPE': 'default',  </a:t>
            </a:r>
            <a:endParaRPr sz="1200">
              <a:solidFill>
                <a:schemeClr val="lt2"/>
              </a:solidFill>
              <a:latin typeface="Arial"/>
              <a:ea typeface="Arial"/>
              <a:cs typeface="Arial"/>
              <a:sym typeface="Arial"/>
            </a:endParaRPr>
          </a:p>
          <a:p>
            <a:pPr indent="457200" lvl="0" marL="0" rtl="0" algn="l">
              <a:lnSpc>
                <a:spcPct val="200000"/>
              </a:lnSpc>
              <a:spcBef>
                <a:spcPts val="0"/>
              </a:spcBef>
              <a:spcAft>
                <a:spcPts val="0"/>
              </a:spcAft>
              <a:buNone/>
            </a:pPr>
            <a:r>
              <a:rPr lang="en" sz="1200">
                <a:solidFill>
                  <a:schemeClr val="lt2"/>
                </a:solidFill>
                <a:latin typeface="Arial"/>
                <a:ea typeface="Arial"/>
                <a:cs typeface="Arial"/>
                <a:sym typeface="Arial"/>
              </a:rPr>
              <a:t>        },</a:t>
            </a:r>
            <a:endParaRPr sz="1200">
              <a:solidFill>
                <a:schemeClr val="lt2"/>
              </a:solidFill>
              <a:latin typeface="Arial"/>
              <a:ea typeface="Arial"/>
              <a:cs typeface="Arial"/>
              <a:sym typeface="Arial"/>
            </a:endParaRPr>
          </a:p>
          <a:p>
            <a:pPr indent="457200" lvl="0" marL="0" rtl="0" algn="l">
              <a:lnSpc>
                <a:spcPct val="200000"/>
              </a:lnSpc>
              <a:spcBef>
                <a:spcPts val="0"/>
              </a:spcBef>
              <a:spcAft>
                <a:spcPts val="0"/>
              </a:spcAft>
              <a:buNone/>
            </a:pPr>
            <a:r>
              <a:rPr lang="en" sz="1200">
                <a:solidFill>
                  <a:schemeClr val="lt2"/>
                </a:solidFill>
                <a:latin typeface="Arial"/>
                <a:ea typeface="Arial"/>
                <a:cs typeface="Arial"/>
                <a:sym typeface="Arial"/>
              </a:rPr>
              <a:t>        site_name='Project’   </a:t>
            </a:r>
            <a:endParaRPr sz="1200">
              <a:solidFill>
                <a:schemeClr val="lt2"/>
              </a:solidFill>
              <a:latin typeface="Arial"/>
              <a:ea typeface="Arial"/>
              <a:cs typeface="Arial"/>
              <a:sym typeface="Arial"/>
            </a:endParaRPr>
          </a:p>
          <a:p>
            <a:pPr indent="457200" lvl="0" marL="0" rtl="0" algn="l">
              <a:lnSpc>
                <a:spcPct val="200000"/>
              </a:lnSpc>
              <a:spcBef>
                <a:spcPts val="0"/>
              </a:spcBef>
              <a:spcAft>
                <a:spcPts val="0"/>
              </a:spcAft>
              <a:buNone/>
            </a:pPr>
            <a:r>
              <a:rPr lang="en" sz="1200">
                <a:solidFill>
                  <a:schemeClr val="lt2"/>
                </a:solidFill>
                <a:latin typeface="Arial"/>
                <a:ea typeface="Arial"/>
                <a:cs typeface="Arial"/>
                <a:sym typeface="Arial"/>
              </a:rPr>
              <a:t> )</a:t>
            </a:r>
            <a:br>
              <a:rPr lang="en">
                <a:solidFill>
                  <a:schemeClr val="lt2"/>
                </a:solidFill>
              </a:rPr>
            </a:br>
            <a:r>
              <a:rPr lang="en">
                <a:solidFill>
                  <a:schemeClr val="lt2"/>
                </a:solidFill>
              </a:rPr>
              <a:t>I have 3 running examples to share.</a:t>
            </a:r>
            <a:endParaRPr>
              <a:solidFill>
                <a:schemeClr val="lt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is app useful to developers?</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New applications can be started almost instantly, modules are functional and work well with one another.</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Current structure supports 50+ different configurations/uses.</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New features/modules/UI additions are not hard to implement.</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 Learned From This Project</a:t>
            </a:r>
            <a:endParaRPr/>
          </a:p>
        </p:txBody>
      </p:sp>
      <p:sp>
        <p:nvSpPr>
          <p:cNvPr id="96" name="Google Shape;96;p19"/>
          <p:cNvSpPr txBox="1"/>
          <p:nvPr>
            <p:ph idx="1" type="body"/>
          </p:nvPr>
        </p:nvSpPr>
        <p:spPr>
          <a:xfrm>
            <a:off x="311700" y="1152475"/>
            <a:ext cx="8520600" cy="3909000"/>
          </a:xfrm>
          <a:prstGeom prst="rect">
            <a:avLst/>
          </a:prstGeom>
        </p:spPr>
        <p:txBody>
          <a:bodyPr anchorCtr="0" anchor="t" bIns="91425" lIns="91425" spcFirstLastPara="1" rIns="91425" wrap="square" tIns="91425">
            <a:normAutofit fontScale="70000" lnSpcReduction="20000"/>
          </a:bodyPr>
          <a:lstStyle/>
          <a:p>
            <a:pPr indent="-308610" lvl="0" marL="457200" rtl="0" algn="l">
              <a:lnSpc>
                <a:spcPct val="100000"/>
              </a:lnSpc>
              <a:spcBef>
                <a:spcPts val="0"/>
              </a:spcBef>
              <a:spcAft>
                <a:spcPts val="0"/>
              </a:spcAft>
              <a:buSzPct val="100000"/>
              <a:buChar char="●"/>
            </a:pPr>
            <a:r>
              <a:rPr lang="en"/>
              <a:t>AI is a learning accelerator and can bridge gaps in knowledge, proving to be an incredibly useful tool in problem solving. By breaking down topics </a:t>
            </a:r>
            <a:r>
              <a:rPr lang="en"/>
              <a:t>such as dependency loops, route conflicts, and handling the database, I was able to work with the AI (through prompts) to gain knowledge not just by being given the answer/code solution, but actually getting explanations of the logic, which strengthened my ability to troubleshoot and understand the principles.</a:t>
            </a:r>
            <a:endParaRPr/>
          </a:p>
          <a:p>
            <a:pPr indent="0" lvl="0" marL="457200" rtl="0" algn="l">
              <a:lnSpc>
                <a:spcPct val="100000"/>
              </a:lnSpc>
              <a:spcBef>
                <a:spcPts val="1200"/>
              </a:spcBef>
              <a:spcAft>
                <a:spcPts val="0"/>
              </a:spcAft>
              <a:buNone/>
            </a:pPr>
            <a:r>
              <a:t/>
            </a:r>
            <a:endParaRPr/>
          </a:p>
          <a:p>
            <a:pPr indent="-308610" lvl="0" marL="457200" rtl="0" algn="l">
              <a:lnSpc>
                <a:spcPct val="100000"/>
              </a:lnSpc>
              <a:spcBef>
                <a:spcPts val="1200"/>
              </a:spcBef>
              <a:spcAft>
                <a:spcPts val="0"/>
              </a:spcAft>
              <a:buSzPct val="100000"/>
              <a:buChar char="●"/>
            </a:pPr>
            <a:r>
              <a:rPr lang="en"/>
              <a:t>Very useful in critical thinking through iterative refinement. </a:t>
            </a:r>
            <a:r>
              <a:rPr lang="en"/>
              <a:t>Rapid iterations</a:t>
            </a:r>
            <a:r>
              <a:rPr lang="en"/>
              <a:t> can be written quickly, which helped me get exactly what I wanted without an excess </a:t>
            </a:r>
            <a:r>
              <a:rPr lang="en"/>
              <a:t>amount</a:t>
            </a:r>
            <a:r>
              <a:rPr lang="en"/>
              <a:t> of time used. </a:t>
            </a:r>
            <a:endParaRPr/>
          </a:p>
          <a:p>
            <a:pPr indent="0" lvl="0" marL="0" rtl="0" algn="l">
              <a:lnSpc>
                <a:spcPct val="100000"/>
              </a:lnSpc>
              <a:spcBef>
                <a:spcPts val="1200"/>
              </a:spcBef>
              <a:spcAft>
                <a:spcPts val="0"/>
              </a:spcAft>
              <a:buNone/>
            </a:pPr>
            <a:r>
              <a:t/>
            </a:r>
            <a:endParaRPr/>
          </a:p>
          <a:p>
            <a:pPr indent="-308610" lvl="0" marL="457200" rtl="0" algn="l">
              <a:lnSpc>
                <a:spcPct val="100000"/>
              </a:lnSpc>
              <a:spcBef>
                <a:spcPts val="1200"/>
              </a:spcBef>
              <a:spcAft>
                <a:spcPts val="0"/>
              </a:spcAft>
              <a:buSzPct val="100000"/>
              <a:buChar char="●"/>
            </a:pPr>
            <a:r>
              <a:rPr lang="en"/>
              <a:t>The AI tools helped me improve my conceptual understanding by giving me deeper insight to high level concepts. Including modular architecture, template inheritance, ORM and database integration, configuration-driven application design, dependency management, and more. </a:t>
            </a:r>
            <a:endParaRPr/>
          </a:p>
          <a:p>
            <a:pPr indent="0" lvl="0" marL="0" rtl="0" algn="l">
              <a:lnSpc>
                <a:spcPct val="100000"/>
              </a:lnSpc>
              <a:spcBef>
                <a:spcPts val="1200"/>
              </a:spcBef>
              <a:spcAft>
                <a:spcPts val="0"/>
              </a:spcAft>
              <a:buNone/>
            </a:pPr>
            <a:r>
              <a:t/>
            </a:r>
            <a:endParaRPr/>
          </a:p>
          <a:p>
            <a:pPr indent="-308610" lvl="0" marL="457200" rtl="0" algn="l">
              <a:lnSpc>
                <a:spcPct val="100000"/>
              </a:lnSpc>
              <a:spcBef>
                <a:spcPts val="1200"/>
              </a:spcBef>
              <a:spcAft>
                <a:spcPts val="0"/>
              </a:spcAft>
              <a:buSzPct val="100000"/>
              <a:buChar char="●"/>
            </a:pPr>
            <a:r>
              <a:rPr lang="en"/>
              <a:t>Lastly, I learned to carefully oversee the AI agent to verify the generated code, ensuring there was secure implementation, understanding the reason behind changes the AI made to the code, as well as maintaining an ethics level of authorship responsibility; all of which reinforced responsible and ethical usage of AI.</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Any Questions or Comments?</a:t>
            </a:r>
            <a:endParaRPr/>
          </a:p>
        </p:txBody>
      </p:sp>
      <p:sp>
        <p:nvSpPr>
          <p:cNvPr id="102" name="Google Shape;102;p20"/>
          <p:cNvSpPr txBox="1"/>
          <p:nvPr>
            <p:ph idx="1" type="body"/>
          </p:nvPr>
        </p:nvSpPr>
        <p:spPr>
          <a:xfrm>
            <a:off x="278225"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Thanks for listening!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